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95" d="100"/>
          <a:sy n="95" d="100"/>
        </p:scale>
        <p:origin x="182" y="7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12</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hreeram0912/Azure-Machine-Learning-Project" TargetMode="External"/><Relationship Id="rId2" Type="http://schemas.openxmlformats.org/officeDocument/2006/relationships/hyperlink" Target="https://learn.microsoft.com/en-us/azure/machine-learning/concept-designer?view=azureml-api-1"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PROJECT TITLE</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200" b="1" cap="all" dirty="0"/>
              <a:t>Presented By</a:t>
            </a:r>
            <a:endParaRPr lang="en-US" sz="1200" cap="all" dirty="0"/>
          </a:p>
          <a:p>
            <a:pPr algn="l">
              <a:spcAft>
                <a:spcPts val="600"/>
              </a:spcAft>
            </a:pPr>
            <a:r>
              <a:rPr lang="en-US" sz="1200" b="1" cap="all" dirty="0"/>
              <a:t>Student Name: Shreeram </a:t>
            </a:r>
            <a:r>
              <a:rPr lang="en-US" sz="1200" b="1" cap="all" dirty="0" err="1"/>
              <a:t>Mishrilal</a:t>
            </a:r>
            <a:r>
              <a:rPr lang="en-US" sz="1200" b="1" cap="all" dirty="0"/>
              <a:t> </a:t>
            </a:r>
            <a:r>
              <a:rPr lang="en-US" sz="1200" b="1" cap="all" dirty="0" err="1"/>
              <a:t>prajapati</a:t>
            </a:r>
            <a:endParaRPr lang="en-US" sz="1200" b="1" cap="all" dirty="0"/>
          </a:p>
          <a:p>
            <a:pPr algn="l">
              <a:spcAft>
                <a:spcPts val="600"/>
              </a:spcAft>
            </a:pPr>
            <a:r>
              <a:rPr lang="en-US" sz="1200" b="1" cap="all" dirty="0"/>
              <a:t>College Name: St. Wilfred’s college of computer sciences, Mira road (e)</a:t>
            </a:r>
          </a:p>
          <a:p>
            <a:pPr algn="l">
              <a:spcAft>
                <a:spcPts val="600"/>
              </a:spcAft>
            </a:pPr>
            <a:r>
              <a:rPr lang="en-US" sz="1200" b="1" cap="all" dirty="0"/>
              <a:t>Department: Master of Computer application</a:t>
            </a:r>
          </a:p>
          <a:p>
            <a:pPr algn="l">
              <a:spcAft>
                <a:spcPts val="600"/>
              </a:spcAft>
            </a:pPr>
            <a:r>
              <a:rPr lang="en-US" sz="1200" b="1" cap="all" dirty="0"/>
              <a:t>Email ID: shreeramprajapati2@gmail.com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6" name="Picture 5" descr="The image shows a person dressed in a black suit and tie, wearing a dark brown hair style.&#10;&#10;AI-generated content may be incorrect.">
            <a:extLst>
              <a:ext uri="{FF2B5EF4-FFF2-40B4-BE49-F238E27FC236}">
                <a16:creationId xmlns:a16="http://schemas.microsoft.com/office/drawing/2014/main" id="{1FCD74FB-9E72-479A-F9E9-1D9CCA182B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8505" y="958482"/>
            <a:ext cx="4590784" cy="494731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Credit card fraud poses a significant challenge to financial institutions worldwide. Fraudulent transactions are rare compared to legitimate ones, leading to highly imbalanced datasets. The problem requires developing a system that can accurately detect fraudulent transactions while minimizing false positives and false negatives. The goal is to safeguard customers and institutions by identifying suspicious activity early and reducing financial risks.</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4" y="1304306"/>
            <a:ext cx="11783455" cy="4950444"/>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b="1" dirty="0"/>
              <a:t>The proposed system leverages machine learning models to classify transactions as either fraudulent or legitimate. By analyzing transaction patterns and features, the system aims to provide a reliable fraud detection mechanism:</a:t>
            </a:r>
            <a:endParaRPr lang="en-IN" sz="1200" b="1" dirty="0">
              <a:latin typeface="Calibri"/>
              <a:ea typeface="Calibri"/>
              <a:cs typeface="Calibri"/>
            </a:endParaRPr>
          </a:p>
          <a:p>
            <a:r>
              <a:rPr lang="en-US" sz="1200" b="1" dirty="0"/>
              <a:t>Data Collection</a:t>
            </a:r>
          </a:p>
          <a:p>
            <a:r>
              <a:rPr lang="en-US" sz="1200" dirty="0"/>
              <a:t>Gather historical credit card transaction data, Ensure the dataset includes both legitimate and fraudulent transactions to train the model effectively.</a:t>
            </a:r>
          </a:p>
          <a:p>
            <a:r>
              <a:rPr lang="en-US" sz="1200" dirty="0"/>
              <a:t>Use Azure Blob Storage to securely store raw and processed datasets.</a:t>
            </a:r>
          </a:p>
          <a:p>
            <a:r>
              <a:rPr lang="en-US" sz="1200" b="1" dirty="0"/>
              <a:t>Data Preprocessing</a:t>
            </a:r>
          </a:p>
          <a:p>
            <a:r>
              <a:rPr lang="en-US" sz="1200" dirty="0"/>
              <a:t>Clean and preprocess the dataset to handle missing values, outliers, and inconsistencies.</a:t>
            </a:r>
          </a:p>
          <a:p>
            <a:r>
              <a:rPr lang="en-US" sz="1200" dirty="0"/>
              <a:t>Apply normalization and scaling techniques to ensure features are comparable.</a:t>
            </a:r>
          </a:p>
          <a:p>
            <a:r>
              <a:rPr lang="en-US" sz="1200" b="1" dirty="0"/>
              <a:t>Machine Learning Algorithm</a:t>
            </a:r>
          </a:p>
          <a:p>
            <a:r>
              <a:rPr lang="en-US" sz="1200" dirty="0"/>
              <a:t>Implement </a:t>
            </a:r>
            <a:r>
              <a:rPr lang="en-US" sz="1200" b="1" dirty="0"/>
              <a:t>Two-Class Decision Forest</a:t>
            </a:r>
            <a:r>
              <a:rPr lang="en-US" sz="1200" dirty="0"/>
              <a:t> in Azure Machine Learning Designer for model training and evaluation.</a:t>
            </a:r>
          </a:p>
          <a:p>
            <a:r>
              <a:rPr lang="en-US" sz="1200" dirty="0"/>
              <a:t>Use </a:t>
            </a:r>
            <a:r>
              <a:rPr lang="en-US" sz="1200" b="1" dirty="0"/>
              <a:t>Random Forest Classifier</a:t>
            </a:r>
            <a:r>
              <a:rPr lang="en-US" sz="1200" dirty="0"/>
              <a:t> from the scikit-learn library in Google </a:t>
            </a:r>
            <a:r>
              <a:rPr lang="en-US" sz="1200" dirty="0" err="1"/>
              <a:t>Colab</a:t>
            </a:r>
            <a:r>
              <a:rPr lang="en-US" sz="1200" dirty="0"/>
              <a:t> for experimentation and validation.</a:t>
            </a:r>
          </a:p>
          <a:p>
            <a:r>
              <a:rPr lang="en-US" sz="1200" dirty="0"/>
              <a:t>Compare performance metrics across both platforms to ensure robustness and accuracy.</a:t>
            </a:r>
          </a:p>
          <a:p>
            <a:r>
              <a:rPr lang="en-US" sz="1200" b="1" dirty="0"/>
              <a:t>Deployment</a:t>
            </a:r>
          </a:p>
          <a:p>
            <a:r>
              <a:rPr lang="en-US" sz="1200" dirty="0"/>
              <a:t>Publish the trained model using Azure Machine Learning Designer, to be deploy for real time use.</a:t>
            </a:r>
          </a:p>
          <a:p>
            <a:r>
              <a:rPr lang="en-US" sz="1200" b="1" dirty="0"/>
              <a:t>Evaluation</a:t>
            </a:r>
          </a:p>
          <a:p>
            <a:r>
              <a:rPr lang="en-US" sz="1200" dirty="0"/>
              <a:t>Assess the model’s performance using metrics such as Accuracy, Precision, Recall, F1-Score, and MCC.</a:t>
            </a:r>
          </a:p>
          <a:p>
            <a:r>
              <a:rPr lang="en-US" sz="1200" dirty="0"/>
              <a:t>Validate results with confusion matrix visualization to understand classification effectiveness.</a:t>
            </a:r>
          </a:p>
          <a:p>
            <a:r>
              <a:rPr lang="en-US" sz="1200" dirty="0"/>
              <a:t>Continuously fine-tune the model based on monitoring feedback and updated transaction data.</a:t>
            </a:r>
            <a:endParaRPr lang="en-US" sz="1200" dirty="0">
              <a:effectLst/>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pPr>
            <a:r>
              <a:rPr lang="en-IN" sz="2200" b="1" dirty="0">
                <a:latin typeface="+mj-lt"/>
              </a:rPr>
              <a:t>Azure Machine Learning Designer – </a:t>
            </a:r>
            <a:r>
              <a:rPr lang="en-IN" sz="2200" dirty="0">
                <a:latin typeface="+mj-lt"/>
              </a:rPr>
              <a:t>Used to design, train, and deploy machine learning models with a drag-and-drop interface.</a:t>
            </a:r>
            <a:endParaRPr lang="en-IN" sz="2200" b="1" dirty="0">
              <a:latin typeface="+mj-lt"/>
            </a:endParaRPr>
          </a:p>
          <a:p>
            <a:pPr>
              <a:spcBef>
                <a:spcPct val="20000"/>
              </a:spcBef>
              <a:spcAft>
                <a:spcPts val="600"/>
              </a:spcAft>
            </a:pPr>
            <a:r>
              <a:rPr lang="en-IN" sz="2200" b="1" dirty="0">
                <a:latin typeface="+mj-lt"/>
              </a:rPr>
              <a:t>Azure Log Analytics – </a:t>
            </a:r>
            <a:r>
              <a:rPr lang="en-IN" sz="2200" dirty="0">
                <a:latin typeface="+mj-lt"/>
              </a:rPr>
              <a:t>Enables monitoring and logging of system performance and fraud detection activities.</a:t>
            </a:r>
          </a:p>
          <a:p>
            <a:pPr>
              <a:spcBef>
                <a:spcPct val="20000"/>
              </a:spcBef>
              <a:spcAft>
                <a:spcPts val="600"/>
              </a:spcAft>
            </a:pPr>
            <a:r>
              <a:rPr lang="en-IN" sz="2200" b="1" dirty="0">
                <a:latin typeface="+mj-lt"/>
              </a:rPr>
              <a:t>Azure Blob Storage – </a:t>
            </a:r>
            <a:r>
              <a:rPr lang="en-IN" sz="2200" dirty="0">
                <a:latin typeface="+mj-lt"/>
              </a:rPr>
              <a:t>Provides secure and scalable storage for datasets and model outputs.</a:t>
            </a:r>
          </a:p>
          <a:p>
            <a:pPr>
              <a:spcBef>
                <a:spcPct val="20000"/>
              </a:spcBef>
              <a:spcAft>
                <a:spcPts val="600"/>
              </a:spcAft>
            </a:pPr>
            <a:r>
              <a:rPr lang="en-IN" sz="2200" b="1" dirty="0">
                <a:latin typeface="+mj-lt"/>
              </a:rPr>
              <a:t>Azure Key Vault – </a:t>
            </a:r>
            <a:r>
              <a:rPr lang="en-IN" sz="2200" dirty="0">
                <a:latin typeface="+mj-lt"/>
              </a:rPr>
              <a:t>Ensures secure management of sensitive information such as API keys and credentials.</a:t>
            </a:r>
          </a:p>
          <a:p>
            <a:pPr>
              <a:spcBef>
                <a:spcPct val="20000"/>
              </a:spcBef>
              <a:spcAft>
                <a:spcPts val="600"/>
              </a:spcAft>
            </a:pPr>
            <a:r>
              <a:rPr lang="en-IN" sz="2200" b="1" dirty="0">
                <a:latin typeface="+mj-lt"/>
              </a:rPr>
              <a:t>Google </a:t>
            </a:r>
            <a:r>
              <a:rPr lang="en-IN" sz="2200" b="1" dirty="0" err="1">
                <a:latin typeface="+mj-lt"/>
              </a:rPr>
              <a:t>Colab</a:t>
            </a:r>
            <a:r>
              <a:rPr lang="en-IN" sz="2200" b="1" dirty="0">
                <a:latin typeface="+mj-lt"/>
              </a:rPr>
              <a:t> – </a:t>
            </a:r>
            <a:r>
              <a:rPr lang="en-IN" sz="2200" dirty="0">
                <a:latin typeface="+mj-lt"/>
              </a:rPr>
              <a:t>Used for experimentation, prototyping, and training models with Python libraries (Pandas, </a:t>
            </a:r>
            <a:r>
              <a:rPr lang="en-IN" sz="2200" dirty="0" err="1">
                <a:latin typeface="+mj-lt"/>
              </a:rPr>
              <a:t>Numpy</a:t>
            </a:r>
            <a:r>
              <a:rPr lang="en-IN" sz="2200" dirty="0">
                <a:latin typeface="+mj-lt"/>
              </a:rPr>
              <a:t>, </a:t>
            </a:r>
            <a:r>
              <a:rPr lang="en-IN" sz="2200" dirty="0" err="1">
                <a:latin typeface="+mj-lt"/>
              </a:rPr>
              <a:t>Matplotib</a:t>
            </a:r>
            <a:r>
              <a:rPr lang="en-IN" sz="2200" dirty="0">
                <a:latin typeface="+mj-lt"/>
              </a:rPr>
              <a:t>, Seaborn, Scikit - Learn)in a collaborative environment.</a:t>
            </a:r>
            <a:endParaRPr lang="en-GB" sz="2200" dirty="0">
              <a:latin typeface="+mj-lt"/>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fontScale="85000" lnSpcReduction="10000"/>
          </a:bodyPr>
          <a:lstStyle/>
          <a:p>
            <a:pPr marL="305435" indent="-305435">
              <a:spcBef>
                <a:spcPct val="20000"/>
              </a:spcBef>
              <a:spcAft>
                <a:spcPts val="600"/>
              </a:spcAft>
              <a:buFont typeface="Arial"/>
              <a:buChar char="•"/>
            </a:pPr>
            <a:r>
              <a:rPr lang="en-IN" sz="1500" dirty="0">
                <a:latin typeface="+mj-lt"/>
              </a:rPr>
              <a:t>In the Algorithm section, describe the machine learning algorithm chosen for predicting bike counts. Here's an example structure for this section:</a:t>
            </a:r>
          </a:p>
          <a:p>
            <a:pPr marL="305435" indent="-305435">
              <a:spcBef>
                <a:spcPct val="20000"/>
              </a:spcBef>
              <a:spcAft>
                <a:spcPts val="600"/>
              </a:spcAft>
              <a:buFont typeface="Arial"/>
              <a:buChar char="•"/>
            </a:pPr>
            <a:r>
              <a:rPr lang="en-IN" sz="1500" b="1" dirty="0">
                <a:latin typeface="+mj-lt"/>
              </a:rPr>
              <a:t>Algorithm Selection:</a:t>
            </a:r>
            <a:endParaRPr lang="en-IN" sz="1500" dirty="0">
              <a:latin typeface="+mj-lt"/>
            </a:endParaRPr>
          </a:p>
          <a:p>
            <a:pPr marL="629920" lvl="1" indent="-305435">
              <a:spcBef>
                <a:spcPct val="20000"/>
              </a:spcBef>
              <a:spcAft>
                <a:spcPts val="600"/>
              </a:spcAft>
              <a:buFont typeface="Arial"/>
              <a:buChar char="•"/>
            </a:pPr>
            <a:r>
              <a:rPr lang="en-US" sz="1500" dirty="0">
                <a:latin typeface="+mj-lt"/>
              </a:rPr>
              <a:t>Two-Class Decision Forest in Azure Machine Learning Designer. This ensemble method is chosen for its ability to handle imbalanced datasets and provide robust classification by combining multiple decision trees.</a:t>
            </a:r>
          </a:p>
          <a:p>
            <a:pPr marL="629920" lvl="1" indent="-305435">
              <a:spcBef>
                <a:spcPct val="20000"/>
              </a:spcBef>
              <a:spcAft>
                <a:spcPts val="600"/>
              </a:spcAft>
              <a:buFont typeface="Arial"/>
              <a:buChar char="•"/>
            </a:pPr>
            <a:r>
              <a:rPr lang="en-US" sz="1500" dirty="0">
                <a:latin typeface="+mj-lt"/>
              </a:rPr>
              <a:t>Random Forest Classifier from the scikit-learn library in Google </a:t>
            </a:r>
            <a:r>
              <a:rPr lang="en-US" sz="1500" dirty="0" err="1">
                <a:latin typeface="+mj-lt"/>
              </a:rPr>
              <a:t>Colab</a:t>
            </a:r>
            <a:r>
              <a:rPr lang="en-US" sz="1500" dirty="0">
                <a:latin typeface="+mj-lt"/>
              </a:rPr>
              <a:t>. This algorithm is selected due to its proven effectiveness in classification tasks, resistance to overfitting, and interpretability of feature importance.</a:t>
            </a:r>
            <a:endParaRPr lang="en-IN" sz="1500" dirty="0">
              <a:latin typeface="+mj-lt"/>
            </a:endParaRPr>
          </a:p>
          <a:p>
            <a:pPr marL="305435" indent="-305435">
              <a:spcBef>
                <a:spcPct val="20000"/>
              </a:spcBef>
              <a:spcAft>
                <a:spcPts val="600"/>
              </a:spcAft>
              <a:buFont typeface="Arial"/>
              <a:buChar char="•"/>
            </a:pPr>
            <a:r>
              <a:rPr lang="en-IN" sz="1500" b="1" dirty="0">
                <a:latin typeface="+mj-lt"/>
              </a:rPr>
              <a:t>Data Input:</a:t>
            </a:r>
            <a:endParaRPr lang="en-IN" sz="1500" dirty="0">
              <a:latin typeface="+mj-lt"/>
            </a:endParaRPr>
          </a:p>
          <a:p>
            <a:pPr marL="629920" lvl="1" indent="-305435">
              <a:spcBef>
                <a:spcPct val="20000"/>
              </a:spcBef>
              <a:spcAft>
                <a:spcPts val="600"/>
              </a:spcAft>
              <a:buFont typeface="Arial"/>
              <a:buChar char="•"/>
            </a:pPr>
            <a:r>
              <a:rPr lang="en-US" sz="1600" dirty="0">
                <a:latin typeface="+mj-lt"/>
              </a:rPr>
              <a:t>These features are preprocessed and stored securely in </a:t>
            </a:r>
            <a:r>
              <a:rPr lang="en-US" sz="1600" b="1" dirty="0">
                <a:latin typeface="+mj-lt"/>
              </a:rPr>
              <a:t>Azure Blob Storage</a:t>
            </a:r>
            <a:r>
              <a:rPr lang="en-US" sz="1600" dirty="0">
                <a:latin typeface="+mj-lt"/>
              </a:rPr>
              <a:t> before being fed into the models.</a:t>
            </a:r>
            <a:r>
              <a:rPr lang="en-IN" sz="1500" dirty="0">
                <a:latin typeface="+mj-lt"/>
              </a:rPr>
              <a:t>.</a:t>
            </a:r>
          </a:p>
          <a:p>
            <a:pPr marL="305435" indent="-305435">
              <a:spcBef>
                <a:spcPct val="20000"/>
              </a:spcBef>
              <a:spcAft>
                <a:spcPts val="600"/>
              </a:spcAft>
              <a:buFont typeface="Arial"/>
              <a:buChar char="•"/>
            </a:pPr>
            <a:r>
              <a:rPr lang="en-IN" sz="1500" b="1" dirty="0">
                <a:latin typeface="+mj-lt"/>
              </a:rPr>
              <a:t>Training Process:</a:t>
            </a:r>
            <a:endParaRPr lang="en-IN" sz="1500" dirty="0">
              <a:latin typeface="+mj-lt"/>
            </a:endParaRPr>
          </a:p>
          <a:p>
            <a:pPr marL="629920" lvl="1" indent="-305435">
              <a:spcBef>
                <a:spcPct val="20000"/>
              </a:spcBef>
              <a:spcAft>
                <a:spcPts val="600"/>
              </a:spcAft>
              <a:buFont typeface="Arial"/>
              <a:buChar char="•"/>
            </a:pPr>
            <a:r>
              <a:rPr lang="en-US" sz="1500" dirty="0">
                <a:latin typeface="+mj-lt"/>
              </a:rPr>
              <a:t>Azure ML Designer: The Two-Class Decision Forest is trained using historical transaction data. Cross-validation is applied to ensure generalization and reduce overfitting. Hyperparameters such as the number of trees and maximum depth are tuned for optimal performance.</a:t>
            </a:r>
          </a:p>
          <a:p>
            <a:pPr marL="629920" lvl="1" indent="-305435">
              <a:spcBef>
                <a:spcPct val="20000"/>
              </a:spcBef>
              <a:spcAft>
                <a:spcPts val="600"/>
              </a:spcAft>
              <a:buFont typeface="Arial"/>
              <a:buChar char="•"/>
            </a:pPr>
            <a:r>
              <a:rPr lang="en-US" sz="1500" dirty="0">
                <a:latin typeface="+mj-lt"/>
              </a:rPr>
              <a:t>Google </a:t>
            </a:r>
            <a:r>
              <a:rPr lang="en-US" sz="1500" dirty="0" err="1">
                <a:latin typeface="+mj-lt"/>
              </a:rPr>
              <a:t>Colab</a:t>
            </a:r>
            <a:r>
              <a:rPr lang="en-US" sz="1500" dirty="0">
                <a:latin typeface="+mj-lt"/>
              </a:rPr>
              <a:t>: The Random Forest Classifier is trained using scikit-learn with similar preprocessing steps. Techniques such as stratified sampling are employed to address class imbalance. </a:t>
            </a:r>
            <a:endParaRPr lang="en-IN" sz="1500" dirty="0">
              <a:latin typeface="+mj-lt"/>
            </a:endParaRPr>
          </a:p>
          <a:p>
            <a:pPr marL="305435" indent="-305435">
              <a:spcBef>
                <a:spcPct val="20000"/>
              </a:spcBef>
              <a:spcAft>
                <a:spcPts val="600"/>
              </a:spcAft>
              <a:buFont typeface="Arial"/>
              <a:buChar char="•"/>
            </a:pPr>
            <a:r>
              <a:rPr lang="en-IN" sz="1500" b="1" dirty="0">
                <a:latin typeface="+mj-lt"/>
              </a:rPr>
              <a:t>Prediction Process:</a:t>
            </a:r>
            <a:endParaRPr lang="en-IN" sz="1500" dirty="0">
              <a:latin typeface="+mj-lt"/>
            </a:endParaRPr>
          </a:p>
          <a:p>
            <a:pPr marL="629920" lvl="1" indent="-305435">
              <a:spcBef>
                <a:spcPct val="20000"/>
              </a:spcBef>
              <a:spcAft>
                <a:spcPts val="600"/>
              </a:spcAft>
              <a:buFont typeface="Arial"/>
              <a:buChar char="•"/>
            </a:pPr>
            <a:r>
              <a:rPr lang="en-US" sz="1500" dirty="0">
                <a:latin typeface="+mj-lt"/>
              </a:rPr>
              <a:t>Azure ML Deployment: The trained Two-Class Decision Forest model is deployed as a REST API endpoint. Incoming transactions are scored in real time, with predictions returned as either “fraudulent” or “legitimate.”</a:t>
            </a:r>
          </a:p>
          <a:p>
            <a:pPr marL="629920" lvl="1" indent="-305435">
              <a:spcBef>
                <a:spcPct val="20000"/>
              </a:spcBef>
              <a:spcAft>
                <a:spcPts val="600"/>
              </a:spcAft>
              <a:buFont typeface="Arial"/>
              <a:buChar char="•"/>
            </a:pPr>
            <a:r>
              <a:rPr lang="en-US" sz="1500" dirty="0">
                <a:latin typeface="+mj-lt"/>
              </a:rPr>
              <a:t>Google </a:t>
            </a:r>
            <a:r>
              <a:rPr lang="en-US" sz="1500" dirty="0" err="1">
                <a:latin typeface="+mj-lt"/>
              </a:rPr>
              <a:t>Colab</a:t>
            </a:r>
            <a:r>
              <a:rPr lang="en-US" sz="1500" dirty="0">
                <a:latin typeface="+mj-lt"/>
              </a:rPr>
              <a:t> Experimentation: The Random Forest Classifier is used for batch predictions and validation. Predictions are generated by aggregating votes across multiple decision trees, ensuring reliable classification.</a:t>
            </a:r>
            <a:endParaRPr lang="en-GB" sz="1500" dirty="0">
              <a:latin typeface="+mj-lt"/>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 Azure Machine Learning</a:t>
            </a:r>
            <a:endParaRPr lang="en-US" sz="4000" dirty="0"/>
          </a:p>
        </p:txBody>
      </p:sp>
      <p:pic>
        <p:nvPicPr>
          <p:cNvPr id="5" name="Content Placeholder 4" descr="The image depicts a dashboard in Azure Machine Learning, showcasing the evaluation metrics for a credit card fraud detection model, including high accuracy, AUC, F1 score, precision, and recall.&#10;&#10;AI-generated content may be incorrect.">
            <a:extLst>
              <a:ext uri="{FF2B5EF4-FFF2-40B4-BE49-F238E27FC236}">
                <a16:creationId xmlns:a16="http://schemas.microsoft.com/office/drawing/2014/main" id="{77989257-E62C-66B4-E2A3-31E0D24F8F98}"/>
              </a:ext>
            </a:extLst>
          </p:cNvPr>
          <p:cNvPicPr>
            <a:picLocks noGrp="1" noChangeAspect="1"/>
          </p:cNvPicPr>
          <p:nvPr>
            <p:ph idx="1"/>
          </p:nvPr>
        </p:nvPicPr>
        <p:blipFill>
          <a:blip r:embed="rId2"/>
          <a:stretch>
            <a:fillRect/>
          </a:stretch>
        </p:blipFill>
        <p:spPr>
          <a:xfrm>
            <a:off x="641807" y="1584325"/>
            <a:ext cx="9908261" cy="4251325"/>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ECBDE6-73E6-7FD7-9587-6F5EDF1EF386}"/>
              </a:ext>
            </a:extLst>
          </p:cNvPr>
          <p:cNvSpPr txBox="1"/>
          <p:nvPr/>
        </p:nvSpPr>
        <p:spPr>
          <a:xfrm>
            <a:off x="-1" y="657726"/>
            <a:ext cx="10355179" cy="369332"/>
          </a:xfrm>
          <a:prstGeom prst="rect">
            <a:avLst/>
          </a:prstGeom>
          <a:noFill/>
        </p:spPr>
        <p:txBody>
          <a:bodyPr wrap="square">
            <a:spAutoFit/>
          </a:bodyPr>
          <a:lstStyle/>
          <a:p>
            <a:r>
              <a:rPr lang="en-US" sz="1800" b="1" cap="all" dirty="0">
                <a:latin typeface="Arial"/>
                <a:cs typeface="Arial"/>
              </a:rPr>
              <a:t>Result: Google </a:t>
            </a:r>
            <a:r>
              <a:rPr lang="en-US" sz="1800" b="1" cap="all" dirty="0" err="1">
                <a:latin typeface="Arial"/>
                <a:cs typeface="Arial"/>
              </a:rPr>
              <a:t>colab</a:t>
            </a:r>
            <a:r>
              <a:rPr lang="en-US" sz="1800" b="1" cap="all" dirty="0">
                <a:latin typeface="Arial"/>
                <a:cs typeface="Arial"/>
              </a:rPr>
              <a:t> notebook</a:t>
            </a:r>
            <a:endParaRPr lang="en-IN" dirty="0"/>
          </a:p>
        </p:txBody>
      </p:sp>
      <p:pic>
        <p:nvPicPr>
          <p:cNvPr id="5" name="Picture 4" descr="The image presents a confusion matrix with high accuracy and precision, moderate recall, and an F1 score, indicating a model's performance in distinguishing between normal and fraud classes.&#10;&#10;AI-generated content may be incorrect.">
            <a:extLst>
              <a:ext uri="{FF2B5EF4-FFF2-40B4-BE49-F238E27FC236}">
                <a16:creationId xmlns:a16="http://schemas.microsoft.com/office/drawing/2014/main" id="{D8AD8783-F971-113B-6D3B-56AFBC7EE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7211" y="1098884"/>
            <a:ext cx="5437577" cy="5253789"/>
          </a:xfrm>
          <a:prstGeom prst="rect">
            <a:avLst/>
          </a:prstGeom>
        </p:spPr>
      </p:pic>
    </p:spTree>
    <p:extLst>
      <p:ext uri="{BB962C8B-B14F-4D97-AF65-F5344CB8AC3E}">
        <p14:creationId xmlns:p14="http://schemas.microsoft.com/office/powerpoint/2010/main" val="1918891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400" dirty="0"/>
              <a:t>The project successfully demonstrates the application of machine learning for fraud detection. While accuracy is high, the imbalanced dataset highlights the importance of precision and recall in evaluating performance. The integration of Azure services ensures secure, scalable, and monitored deployment, while Google </a:t>
            </a:r>
            <a:r>
              <a:rPr lang="en-US" sz="2400" dirty="0" err="1"/>
              <a:t>Colab</a:t>
            </a:r>
            <a:r>
              <a:rPr lang="en-US" sz="2400" dirty="0"/>
              <a:t> provides flexibility for experimentation.</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a:spcBef>
                <a:spcPct val="20000"/>
              </a:spcBef>
              <a:spcAft>
                <a:spcPts val="600"/>
              </a:spcAft>
            </a:pPr>
            <a:r>
              <a:rPr lang="en-US" sz="2200" b="1" dirty="0">
                <a:latin typeface="+mj-lt"/>
              </a:rPr>
              <a:t>Deployment:</a:t>
            </a:r>
            <a:r>
              <a:rPr lang="en-US" sz="2200" dirty="0">
                <a:latin typeface="+mj-lt"/>
              </a:rPr>
              <a:t> Expanding deployment to production environments with APIs for real-time fraud detection.</a:t>
            </a:r>
          </a:p>
          <a:p>
            <a:pPr>
              <a:spcBef>
                <a:spcPct val="20000"/>
              </a:spcBef>
              <a:spcAft>
                <a:spcPts val="600"/>
              </a:spcAft>
            </a:pPr>
            <a:r>
              <a:rPr lang="en-US" sz="2200" b="1" dirty="0">
                <a:latin typeface="+mj-lt"/>
              </a:rPr>
              <a:t>Consumption:</a:t>
            </a:r>
            <a:r>
              <a:rPr lang="en-US" sz="2200" dirty="0">
                <a:latin typeface="+mj-lt"/>
              </a:rPr>
              <a:t> Financial institutions can consume the model through REST endpoints, integrating it into transaction monitoring systems.</a:t>
            </a:r>
          </a:p>
          <a:p>
            <a:pPr>
              <a:spcBef>
                <a:spcPct val="20000"/>
              </a:spcBef>
              <a:spcAft>
                <a:spcPts val="600"/>
              </a:spcAft>
            </a:pPr>
            <a:r>
              <a:rPr lang="en-US" sz="2200" b="1" dirty="0">
                <a:latin typeface="+mj-lt"/>
              </a:rPr>
              <a:t>Enhancements:</a:t>
            </a:r>
            <a:r>
              <a:rPr lang="en-US" sz="2200" dirty="0">
                <a:latin typeface="+mj-lt"/>
              </a:rPr>
              <a:t> Techniques such as oversampling, </a:t>
            </a:r>
            <a:r>
              <a:rPr lang="en-US" sz="2200" dirty="0" err="1">
                <a:latin typeface="+mj-lt"/>
              </a:rPr>
              <a:t>undersampling</a:t>
            </a:r>
            <a:r>
              <a:rPr lang="en-US" sz="2200" dirty="0">
                <a:latin typeface="+mj-lt"/>
              </a:rPr>
              <a:t>, or advanced algorithms (e.g., </a:t>
            </a:r>
            <a:r>
              <a:rPr lang="en-US" sz="2200" dirty="0" err="1">
                <a:latin typeface="+mj-lt"/>
              </a:rPr>
              <a:t>XGBoost</a:t>
            </a:r>
            <a:r>
              <a:rPr lang="en-US" sz="2200" dirty="0">
                <a:latin typeface="+mj-lt"/>
              </a:rPr>
              <a:t>, deep learning) can be explored to improve recall.</a:t>
            </a:r>
          </a:p>
          <a:p>
            <a:pPr>
              <a:spcBef>
                <a:spcPct val="20000"/>
              </a:spcBef>
              <a:spcAft>
                <a:spcPts val="600"/>
              </a:spcAft>
            </a:pPr>
            <a:r>
              <a:rPr lang="en-US" sz="2200" b="1" dirty="0">
                <a:latin typeface="+mj-lt"/>
              </a:rPr>
              <a:t>Monitoring:</a:t>
            </a:r>
            <a:r>
              <a:rPr lang="en-US" sz="2200" dirty="0">
                <a:latin typeface="+mj-lt"/>
              </a:rPr>
              <a:t> Continuous monitoring with Azure Log Analytics to refine model performance over time.</a:t>
            </a:r>
          </a:p>
          <a:p>
            <a:pPr>
              <a:spcBef>
                <a:spcPct val="20000"/>
              </a:spcBef>
              <a:spcAft>
                <a:spcPts val="600"/>
              </a:spcAft>
            </a:pPr>
            <a:r>
              <a:rPr lang="en-US" sz="2200" b="1" dirty="0">
                <a:latin typeface="+mj-lt"/>
              </a:rPr>
              <a:t>Security:</a:t>
            </a:r>
            <a:r>
              <a:rPr lang="en-US" sz="2200" dirty="0">
                <a:latin typeface="+mj-lt"/>
              </a:rPr>
              <a:t> Enhanced use of Azure Key Vault to safeguard sensitive credentials during deployment.</a:t>
            </a:r>
            <a:endParaRPr lang="en-GB" sz="2200" dirty="0">
              <a:latin typeface="+mj-lt"/>
            </a:endParaRPr>
          </a:p>
        </p:txBody>
      </p:sp>
    </p:spTree>
    <p:extLst>
      <p:ext uri="{BB962C8B-B14F-4D97-AF65-F5344CB8AC3E}">
        <p14:creationId xmlns:p14="http://schemas.microsoft.com/office/powerpoint/2010/main" val="37441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br>
              <a:rPr lang="en-US" sz="2200" dirty="0">
                <a:latin typeface="+mj-lt"/>
              </a:rPr>
            </a:br>
            <a:r>
              <a:rPr lang="en-US" sz="2200" dirty="0">
                <a:latin typeface="+mj-lt"/>
                <a:hlinkClick r:id="rId2"/>
              </a:rPr>
              <a:t>Azure Machine Learning Official Documentation</a:t>
            </a:r>
            <a:endParaRPr lang="en-US" sz="2200" dirty="0">
              <a:latin typeface="+mj-lt"/>
            </a:endParaRPr>
          </a:p>
          <a:p>
            <a:pPr marL="0" indent="0">
              <a:buNone/>
            </a:pPr>
            <a:r>
              <a:rPr lang="en-US" sz="2200" dirty="0">
                <a:latin typeface="+mj-lt"/>
              </a:rPr>
              <a:t>AICTE Azure Internship Team</a:t>
            </a:r>
          </a:p>
          <a:p>
            <a:pPr marL="0" indent="0">
              <a:buNone/>
            </a:pPr>
            <a:r>
              <a:rPr lang="en-IN" sz="2200" dirty="0">
                <a:latin typeface="+mj-lt"/>
                <a:hlinkClick r:id="rId3"/>
              </a:rPr>
              <a:t>Project </a:t>
            </a:r>
            <a:r>
              <a:rPr lang="en-IN" sz="2200" dirty="0" err="1">
                <a:latin typeface="+mj-lt"/>
                <a:hlinkClick r:id="rId3"/>
              </a:rPr>
              <a:t>Github</a:t>
            </a:r>
            <a:r>
              <a:rPr lang="en-IN" sz="2200" dirty="0">
                <a:latin typeface="+mj-lt"/>
                <a:hlinkClick r:id="rId3"/>
              </a:rPr>
              <a:t> Link</a:t>
            </a:r>
            <a:endParaRPr lang="en-IN" sz="2200" dirty="0">
              <a:latin typeface="+mj-lt"/>
            </a:endParaRPr>
          </a:p>
        </p:txBody>
      </p:sp>
    </p:spTree>
    <p:extLst>
      <p:ext uri="{BB962C8B-B14F-4D97-AF65-F5344CB8AC3E}">
        <p14:creationId xmlns:p14="http://schemas.microsoft.com/office/powerpoint/2010/main" val="169170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891</Words>
  <Application>Microsoft Office PowerPoint</Application>
  <PresentationFormat>Widescreen</PresentationFormat>
  <Paragraphs>72</Paragraphs>
  <Slides>12</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Aptos</vt:lpstr>
      <vt:lpstr>Arial</vt:lpstr>
      <vt:lpstr>Calibri</vt:lpstr>
      <vt:lpstr>1_Office Theme</vt:lpstr>
      <vt:lpstr>Custom Design</vt:lpstr>
      <vt:lpstr>PowerPoint Presentation</vt:lpstr>
      <vt:lpstr>OUTLINE:</vt:lpstr>
      <vt:lpstr>Problem Statement:</vt:lpstr>
      <vt:lpstr>Proposed Solution:</vt:lpstr>
      <vt:lpstr>System  Approach:</vt:lpstr>
      <vt:lpstr>Algorithm &amp; Deployment:</vt:lpstr>
      <vt:lpstr>Result: Azure Machine Learning</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Surajbabu Prajapati</cp:lastModifiedBy>
  <cp:revision>105</cp:revision>
  <dcterms:created xsi:type="dcterms:W3CDTF">2024-05-21T11:55:07Z</dcterms:created>
  <dcterms:modified xsi:type="dcterms:W3CDTF">2026-02-14T11:20:28Z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